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9" r:id="rId3"/>
    <p:sldId id="262" r:id="rId4"/>
    <p:sldId id="258" r:id="rId5"/>
    <p:sldId id="273" r:id="rId6"/>
    <p:sldId id="264" r:id="rId7"/>
    <p:sldId id="274" r:id="rId8"/>
    <p:sldId id="271" r:id="rId9"/>
    <p:sldId id="270" r:id="rId10"/>
    <p:sldId id="268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3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224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3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09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34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99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71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840480" cy="3840480"/>
          </a:xfrm>
          <a:prstGeom prst="ellipse">
            <a:avLst/>
          </a:prstGeom>
          <a:solidFill>
            <a:srgbClr val="0A5C60">
              <a:alpha val="60000"/>
            </a:srgbClr>
          </a:solidFill>
          <a:ln w="12700">
            <a:solidFill>
              <a:srgbClr val="0A5C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291840"/>
            <a:ext cx="2560320" cy="2560320"/>
          </a:xfrm>
          <a:prstGeom prst="ellipse">
            <a:avLst/>
          </a:prstGeom>
          <a:solidFill>
            <a:srgbClr val="0A5C60">
              <a:alpha val="50000"/>
            </a:srgbClr>
          </a:solidFill>
          <a:ln w="12700">
            <a:solidFill>
              <a:srgbClr val="0A5C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0080"/>
            <a:ext cx="7441672" cy="384048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115211"/>
            <a:ext cx="5212080" cy="1326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LAB-1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2055116"/>
            <a:ext cx="2560320" cy="45719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745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49476"/>
            <a:ext cx="5120640" cy="745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r>
              <a:rPr lang="en-US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Asshifa Sultana 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BSSE </a:t>
            </a:r>
            <a:r>
              <a:rPr lang="en-US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1632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3232" y="2926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3246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35844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</a:t>
            </a:r>
            <a:r>
              <a:rPr lang="en-US" sz="900" dirty="0" smtClean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840480" cy="3840480"/>
          </a:xfrm>
          <a:prstGeom prst="ellipse">
            <a:avLst/>
          </a:prstGeom>
          <a:solidFill>
            <a:srgbClr val="0A5C60">
              <a:alpha val="60000"/>
            </a:srgbClr>
          </a:solidFill>
          <a:ln w="12700">
            <a:solidFill>
              <a:srgbClr val="0A5C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291840"/>
            <a:ext cx="2560320" cy="2560320"/>
          </a:xfrm>
          <a:prstGeom prst="ellipse">
            <a:avLst/>
          </a:prstGeom>
          <a:solidFill>
            <a:srgbClr val="0A5C60">
              <a:alpha val="50000"/>
            </a:srgbClr>
          </a:solidFill>
          <a:ln w="12700">
            <a:solidFill>
              <a:srgbClr val="0A5C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0080"/>
            <a:ext cx="7441672" cy="384048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8229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STEGOFUSION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13232" y="1719072"/>
            <a:ext cx="256032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745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MULTI-ALGORITHM BASED IMAGE STEGANOGRAPHY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57860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8163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</a:t>
            </a:r>
            <a:r>
              <a:rPr lang="en-US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Dr. </a:t>
            </a:r>
            <a:r>
              <a:rPr lang="en-US" dirty="0" err="1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Emon</a:t>
            </a:r>
            <a:r>
              <a:rPr lang="en-US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Kumar </a:t>
            </a:r>
            <a:r>
              <a:rPr lang="en-US" dirty="0" err="1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232" y="3154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  ·  IIT, University of Dhaka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35844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n-US" sz="9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3060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7315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4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5537" y="960120"/>
            <a:ext cx="416052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960120"/>
            <a:ext cx="54864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0332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1307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13075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smtClean="0"/>
              <a:t>Securely hides text data inside BMP images using multiple algorithms.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18888" y="953625"/>
            <a:ext cx="416052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18888" y="960120"/>
            <a:ext cx="54864" cy="1143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10332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46904" y="1307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46904" y="130285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compression, error detection and LSB embedding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" y="2286000"/>
            <a:ext cx="416052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286000"/>
            <a:ext cx="54864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3591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" y="2641491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randomized pixel selection to avoid detectable patterns.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18888" y="2286000"/>
            <a:ext cx="416052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2286000"/>
            <a:ext cx="54864" cy="1143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6904" y="23591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46904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46904" y="270662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smtClean="0"/>
              <a:t>Preserves image quality with minimum visual distortion.</a:t>
            </a:r>
            <a:endParaRPr lang="en-US" sz="14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" y="3611880"/>
            <a:ext cx="416052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3611880"/>
            <a:ext cx="54864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36850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" y="3959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" y="4233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18888" y="3611880"/>
            <a:ext cx="416052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18888" y="3611880"/>
            <a:ext cx="54864" cy="1143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46904" y="36850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46904" y="3959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46904" y="4029222"/>
            <a:ext cx="3840480" cy="582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Displays details after embedding, including modified pixel count, exports the data to CSV file.</a:t>
            </a:r>
            <a:endParaRPr lang="en-US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502803" y="4029222"/>
            <a:ext cx="39251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To transmit the </a:t>
            </a:r>
            <a:r>
              <a:rPr lang="en-US" sz="1400" dirty="0" err="1"/>
              <a:t>stego</a:t>
            </a:r>
            <a:r>
              <a:rPr lang="en-US" sz="1400" dirty="0"/>
              <a:t> image securely to a receiver over a network using simple TCP socket communication.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7315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4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at a Glance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05840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00584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 smtClean="0"/>
              <a:t>1. Huffman Compression </a:t>
            </a:r>
            <a:r>
              <a:rPr lang="en-US" sz="1400" dirty="0" smtClean="0"/>
              <a:t>Compresses text data before embedding to reduce size.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01368"/>
            <a:ext cx="54864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80136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 smtClean="0"/>
              <a:t>2. </a:t>
            </a:r>
            <a:r>
              <a:rPr lang="en-US" sz="1400" b="1" dirty="0"/>
              <a:t>Hamming Error Correction</a:t>
            </a:r>
            <a:r>
              <a:rPr lang="en-US" sz="1400" dirty="0"/>
              <a:t> </a:t>
            </a:r>
            <a:r>
              <a:rPr lang="en-US" sz="1400" dirty="0" smtClean="0"/>
              <a:t>Detects and corrects bit errors using parity bits and bitwise operations.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96896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96896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3. Logistic Chaotic Map</a:t>
            </a:r>
            <a:r>
              <a:rPr lang="en-US" sz="1400" dirty="0"/>
              <a:t> </a:t>
            </a:r>
            <a:r>
              <a:rPr lang="en-US" sz="1400" dirty="0" smtClean="0"/>
              <a:t>Randomizes data embedding positions using iterative non linear equation.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92424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92424"/>
            <a:ext cx="54864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392424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 smtClean="0"/>
              <a:t>4. </a:t>
            </a:r>
            <a:r>
              <a:rPr lang="en-US" sz="1400" b="1" dirty="0"/>
              <a:t>LSB Embedding</a:t>
            </a:r>
            <a:r>
              <a:rPr lang="en-US" sz="1400" dirty="0"/>
              <a:t> </a:t>
            </a:r>
            <a:r>
              <a:rPr lang="en-US" sz="1400" dirty="0" smtClean="0"/>
              <a:t>Hides data bits in image pixels by altering least significant bits of pixel values.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87952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187952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18795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5. TCP Socket Transmission</a:t>
            </a:r>
            <a:r>
              <a:rPr lang="en-US" sz="1400" dirty="0"/>
              <a:t> </a:t>
            </a:r>
            <a:r>
              <a:rPr lang="en-US" sz="1400" dirty="0" smtClean="0"/>
              <a:t>Allows </a:t>
            </a:r>
            <a:r>
              <a:rPr lang="en-US" sz="1400" dirty="0"/>
              <a:t>to transmit the </a:t>
            </a:r>
            <a:r>
              <a:rPr lang="en-US" sz="1400" dirty="0" err="1"/>
              <a:t>stego</a:t>
            </a:r>
            <a:r>
              <a:rPr lang="en-US" sz="1400" dirty="0"/>
              <a:t> image directly to a receiver over a </a:t>
            </a:r>
            <a:r>
              <a:rPr lang="en-US" sz="1400" dirty="0" smtClean="0"/>
              <a:t>network </a:t>
            </a:r>
            <a:r>
              <a:rPr lang="en-US" sz="1400" dirty="0"/>
              <a:t>using a simple TCP socket connection.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7315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4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996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33772" y="1069879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33772" y="1719103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212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862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1455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4078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Shape 5"/>
          <p:cNvSpPr/>
          <p:nvPr/>
        </p:nvSpPr>
        <p:spPr>
          <a:xfrm>
            <a:off x="553212" y="1238515"/>
            <a:ext cx="1097280" cy="685800"/>
          </a:xfrm>
          <a:prstGeom prst="rect">
            <a:avLst/>
          </a:prstGeom>
          <a:solidFill>
            <a:srgbClr val="00736B"/>
          </a:solidFill>
          <a:ln w="12700">
            <a:solidFill>
              <a:srgbClr val="00736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6"/>
          <p:cNvSpPr/>
          <p:nvPr/>
        </p:nvSpPr>
        <p:spPr>
          <a:xfrm>
            <a:off x="553212" y="1238515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29" name="Shape 7"/>
          <p:cNvSpPr/>
          <p:nvPr/>
        </p:nvSpPr>
        <p:spPr>
          <a:xfrm>
            <a:off x="1677924" y="1581415"/>
            <a:ext cx="201168" cy="0"/>
          </a:xfrm>
          <a:prstGeom prst="line">
            <a:avLst/>
          </a:prstGeom>
          <a:noFill/>
          <a:ln w="19050">
            <a:solidFill>
              <a:srgbClr val="0073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8"/>
          <p:cNvSpPr/>
          <p:nvPr/>
        </p:nvSpPr>
        <p:spPr>
          <a:xfrm>
            <a:off x="1732788" y="1462543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00736B"/>
                </a:solidFill>
              </a:rPr>
              <a:t>▶</a:t>
            </a:r>
            <a:endParaRPr lang="en-US" sz="900" dirty="0"/>
          </a:p>
        </p:txBody>
      </p:sp>
      <p:sp>
        <p:nvSpPr>
          <p:cNvPr id="31" name="Shape 9"/>
          <p:cNvSpPr/>
          <p:nvPr/>
        </p:nvSpPr>
        <p:spPr>
          <a:xfrm>
            <a:off x="1901952" y="1239540"/>
            <a:ext cx="1097280" cy="685800"/>
          </a:xfrm>
          <a:prstGeom prst="rect">
            <a:avLst/>
          </a:prstGeom>
          <a:solidFill>
            <a:srgbClr val="028A80"/>
          </a:solidFill>
          <a:ln w="12700">
            <a:solidFill>
              <a:srgbClr val="028A8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10"/>
          <p:cNvSpPr/>
          <p:nvPr/>
        </p:nvSpPr>
        <p:spPr>
          <a:xfrm>
            <a:off x="1906524" y="1238515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1100" dirty="0"/>
          </a:p>
        </p:txBody>
      </p:sp>
      <p:sp>
        <p:nvSpPr>
          <p:cNvPr id="33" name="Shape 11"/>
          <p:cNvSpPr/>
          <p:nvPr/>
        </p:nvSpPr>
        <p:spPr>
          <a:xfrm>
            <a:off x="3031236" y="1581415"/>
            <a:ext cx="201168" cy="0"/>
          </a:xfrm>
          <a:prstGeom prst="line">
            <a:avLst/>
          </a:prstGeom>
          <a:noFill/>
          <a:ln w="19050">
            <a:solidFill>
              <a:srgbClr val="0073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2"/>
          <p:cNvSpPr/>
          <p:nvPr/>
        </p:nvSpPr>
        <p:spPr>
          <a:xfrm>
            <a:off x="3086100" y="1462543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00736B"/>
                </a:solidFill>
              </a:rPr>
              <a:t>▶</a:t>
            </a:r>
            <a:endParaRPr lang="en-US" sz="900" dirty="0"/>
          </a:p>
        </p:txBody>
      </p:sp>
      <p:sp>
        <p:nvSpPr>
          <p:cNvPr id="35" name="Shape 13"/>
          <p:cNvSpPr/>
          <p:nvPr/>
        </p:nvSpPr>
        <p:spPr>
          <a:xfrm>
            <a:off x="3259836" y="1238515"/>
            <a:ext cx="1097280" cy="685800"/>
          </a:xfrm>
          <a:prstGeom prst="rect">
            <a:avLst/>
          </a:prstGeom>
          <a:solidFill>
            <a:srgbClr val="028A80"/>
          </a:solidFill>
          <a:ln w="12700">
            <a:solidFill>
              <a:srgbClr val="028A8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14"/>
          <p:cNvSpPr/>
          <p:nvPr/>
        </p:nvSpPr>
        <p:spPr>
          <a:xfrm>
            <a:off x="3259836" y="1238515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00" dirty="0"/>
          </a:p>
        </p:txBody>
      </p:sp>
      <p:sp>
        <p:nvSpPr>
          <p:cNvPr id="37" name="Shape 15"/>
          <p:cNvSpPr/>
          <p:nvPr/>
        </p:nvSpPr>
        <p:spPr>
          <a:xfrm>
            <a:off x="4384548" y="1581415"/>
            <a:ext cx="201168" cy="0"/>
          </a:xfrm>
          <a:prstGeom prst="line">
            <a:avLst/>
          </a:prstGeom>
          <a:noFill/>
          <a:ln w="19050">
            <a:solidFill>
              <a:srgbClr val="0073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6"/>
          <p:cNvSpPr/>
          <p:nvPr/>
        </p:nvSpPr>
        <p:spPr>
          <a:xfrm>
            <a:off x="4439412" y="1462543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00736B"/>
                </a:solidFill>
              </a:rPr>
              <a:t>▶</a:t>
            </a:r>
            <a:endParaRPr lang="en-US" sz="900" dirty="0"/>
          </a:p>
        </p:txBody>
      </p:sp>
      <p:sp>
        <p:nvSpPr>
          <p:cNvPr id="39" name="Shape 17"/>
          <p:cNvSpPr/>
          <p:nvPr/>
        </p:nvSpPr>
        <p:spPr>
          <a:xfrm>
            <a:off x="4613148" y="1238515"/>
            <a:ext cx="1097280" cy="685800"/>
          </a:xfrm>
          <a:prstGeom prst="rect">
            <a:avLst/>
          </a:prstGeom>
          <a:solidFill>
            <a:srgbClr val="028A80"/>
          </a:solidFill>
          <a:ln w="12700">
            <a:solidFill>
              <a:srgbClr val="028A8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18"/>
          <p:cNvSpPr/>
          <p:nvPr/>
        </p:nvSpPr>
        <p:spPr>
          <a:xfrm>
            <a:off x="4613148" y="1238515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100" dirty="0"/>
          </a:p>
        </p:txBody>
      </p:sp>
      <p:sp>
        <p:nvSpPr>
          <p:cNvPr id="41" name="Shape 19"/>
          <p:cNvSpPr/>
          <p:nvPr/>
        </p:nvSpPr>
        <p:spPr>
          <a:xfrm>
            <a:off x="5737860" y="1581415"/>
            <a:ext cx="201168" cy="0"/>
          </a:xfrm>
          <a:prstGeom prst="line">
            <a:avLst/>
          </a:prstGeom>
          <a:noFill/>
          <a:ln w="19050">
            <a:solidFill>
              <a:srgbClr val="0073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0"/>
          <p:cNvSpPr/>
          <p:nvPr/>
        </p:nvSpPr>
        <p:spPr>
          <a:xfrm>
            <a:off x="5792724" y="1462543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00736B"/>
                </a:solidFill>
              </a:rPr>
              <a:t>▶</a:t>
            </a:r>
            <a:endParaRPr lang="en-US" sz="900" dirty="0"/>
          </a:p>
        </p:txBody>
      </p:sp>
      <p:sp>
        <p:nvSpPr>
          <p:cNvPr id="43" name="Shape 21"/>
          <p:cNvSpPr/>
          <p:nvPr/>
        </p:nvSpPr>
        <p:spPr>
          <a:xfrm>
            <a:off x="5966460" y="1238515"/>
            <a:ext cx="1097280" cy="685800"/>
          </a:xfrm>
          <a:prstGeom prst="rect">
            <a:avLst/>
          </a:prstGeom>
          <a:solidFill>
            <a:srgbClr val="028A80"/>
          </a:solidFill>
          <a:ln w="12700">
            <a:solidFill>
              <a:srgbClr val="028A8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22"/>
          <p:cNvSpPr/>
          <p:nvPr/>
        </p:nvSpPr>
        <p:spPr>
          <a:xfrm>
            <a:off x="5966460" y="1238515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45" name="Shape 23"/>
          <p:cNvSpPr/>
          <p:nvPr/>
        </p:nvSpPr>
        <p:spPr>
          <a:xfrm>
            <a:off x="7091172" y="1581415"/>
            <a:ext cx="201168" cy="0"/>
          </a:xfrm>
          <a:prstGeom prst="line">
            <a:avLst/>
          </a:prstGeom>
          <a:noFill/>
          <a:ln w="19050">
            <a:solidFill>
              <a:srgbClr val="0073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4"/>
          <p:cNvSpPr/>
          <p:nvPr/>
        </p:nvSpPr>
        <p:spPr>
          <a:xfrm>
            <a:off x="7146036" y="1462543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00736B"/>
                </a:solidFill>
              </a:rPr>
              <a:t>▶</a:t>
            </a:r>
            <a:endParaRPr lang="en-US" sz="900" dirty="0"/>
          </a:p>
        </p:txBody>
      </p:sp>
      <p:sp>
        <p:nvSpPr>
          <p:cNvPr id="47" name="Shape 25"/>
          <p:cNvSpPr/>
          <p:nvPr/>
        </p:nvSpPr>
        <p:spPr>
          <a:xfrm>
            <a:off x="7319772" y="1238515"/>
            <a:ext cx="1097280" cy="685800"/>
          </a:xfrm>
          <a:prstGeom prst="rect">
            <a:avLst/>
          </a:prstGeom>
          <a:solidFill>
            <a:srgbClr val="1A6B63"/>
          </a:solidFill>
          <a:ln w="12700">
            <a:solidFill>
              <a:srgbClr val="1A6B6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26"/>
          <p:cNvSpPr/>
          <p:nvPr/>
        </p:nvSpPr>
        <p:spPr>
          <a:xfrm>
            <a:off x="7319772" y="1238515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BMP</a:t>
            </a:r>
            <a:endParaRPr lang="en-US" sz="1100" dirty="0"/>
          </a:p>
        </p:txBody>
      </p:sp>
      <p:sp>
        <p:nvSpPr>
          <p:cNvPr id="49" name="Shape 28"/>
          <p:cNvSpPr/>
          <p:nvPr/>
        </p:nvSpPr>
        <p:spPr>
          <a:xfrm>
            <a:off x="547585" y="2572673"/>
            <a:ext cx="1097280" cy="685800"/>
          </a:xfrm>
          <a:prstGeom prst="rect">
            <a:avLst/>
          </a:prstGeom>
          <a:solidFill>
            <a:srgbClr val="1A6B63"/>
          </a:solidFill>
          <a:ln w="12700">
            <a:solidFill>
              <a:srgbClr val="1A6B6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29"/>
          <p:cNvSpPr/>
          <p:nvPr/>
        </p:nvSpPr>
        <p:spPr>
          <a:xfrm>
            <a:off x="547585" y="257267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BMP</a:t>
            </a:r>
            <a:endParaRPr lang="en-US" sz="1100" dirty="0"/>
          </a:p>
        </p:txBody>
      </p:sp>
      <p:sp>
        <p:nvSpPr>
          <p:cNvPr id="51" name="Shape 30"/>
          <p:cNvSpPr/>
          <p:nvPr/>
        </p:nvSpPr>
        <p:spPr>
          <a:xfrm>
            <a:off x="1672297" y="2915573"/>
            <a:ext cx="201168" cy="0"/>
          </a:xfrm>
          <a:prstGeom prst="line">
            <a:avLst/>
          </a:prstGeom>
          <a:noFill/>
          <a:ln w="19050">
            <a:solidFill>
              <a:srgbClr val="C8830A"/>
            </a:solidFill>
            <a:prstDash val="solid"/>
          </a:ln>
        </p:spPr>
      </p:sp>
      <p:sp>
        <p:nvSpPr>
          <p:cNvPr id="52" name="Text 31"/>
          <p:cNvSpPr/>
          <p:nvPr/>
        </p:nvSpPr>
        <p:spPr>
          <a:xfrm>
            <a:off x="1727161" y="2796701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830A"/>
                </a:solidFill>
              </a:rPr>
              <a:t>▶</a:t>
            </a:r>
            <a:endParaRPr lang="en-US" sz="900" dirty="0"/>
          </a:p>
        </p:txBody>
      </p:sp>
      <p:sp>
        <p:nvSpPr>
          <p:cNvPr id="53" name="Shape 32"/>
          <p:cNvSpPr/>
          <p:nvPr/>
        </p:nvSpPr>
        <p:spPr>
          <a:xfrm>
            <a:off x="1900897" y="2572673"/>
            <a:ext cx="1097280" cy="685800"/>
          </a:xfrm>
          <a:prstGeom prst="rect">
            <a:avLst/>
          </a:prstGeom>
          <a:solidFill>
            <a:srgbClr val="C8830A"/>
          </a:solidFill>
          <a:ln w="12700">
            <a:solidFill>
              <a:srgbClr val="C8830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Text 33"/>
          <p:cNvSpPr/>
          <p:nvPr/>
        </p:nvSpPr>
        <p:spPr>
          <a:xfrm>
            <a:off x="1900897" y="257267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100" dirty="0"/>
          </a:p>
        </p:txBody>
      </p:sp>
      <p:sp>
        <p:nvSpPr>
          <p:cNvPr id="55" name="Shape 34"/>
          <p:cNvSpPr/>
          <p:nvPr/>
        </p:nvSpPr>
        <p:spPr>
          <a:xfrm>
            <a:off x="3025609" y="2915573"/>
            <a:ext cx="201168" cy="0"/>
          </a:xfrm>
          <a:prstGeom prst="line">
            <a:avLst/>
          </a:prstGeom>
          <a:noFill/>
          <a:ln w="19050">
            <a:solidFill>
              <a:srgbClr val="C8830A"/>
            </a:solidFill>
            <a:prstDash val="solid"/>
          </a:ln>
        </p:spPr>
      </p:sp>
      <p:sp>
        <p:nvSpPr>
          <p:cNvPr id="56" name="Text 35"/>
          <p:cNvSpPr/>
          <p:nvPr/>
        </p:nvSpPr>
        <p:spPr>
          <a:xfrm>
            <a:off x="3080473" y="2796701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830A"/>
                </a:solidFill>
              </a:rPr>
              <a:t>▶</a:t>
            </a:r>
            <a:endParaRPr lang="en-US" sz="900" dirty="0"/>
          </a:p>
        </p:txBody>
      </p:sp>
      <p:sp>
        <p:nvSpPr>
          <p:cNvPr id="57" name="Shape 36"/>
          <p:cNvSpPr/>
          <p:nvPr/>
        </p:nvSpPr>
        <p:spPr>
          <a:xfrm>
            <a:off x="3254209" y="2572673"/>
            <a:ext cx="1097280" cy="685800"/>
          </a:xfrm>
          <a:prstGeom prst="rect">
            <a:avLst/>
          </a:prstGeom>
          <a:solidFill>
            <a:srgbClr val="C8830A"/>
          </a:solidFill>
          <a:ln w="12700">
            <a:solidFill>
              <a:srgbClr val="C8830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Text 37"/>
          <p:cNvSpPr/>
          <p:nvPr/>
        </p:nvSpPr>
        <p:spPr>
          <a:xfrm>
            <a:off x="3254209" y="257267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59" name="Shape 38"/>
          <p:cNvSpPr/>
          <p:nvPr/>
        </p:nvSpPr>
        <p:spPr>
          <a:xfrm>
            <a:off x="4378921" y="2915573"/>
            <a:ext cx="201168" cy="0"/>
          </a:xfrm>
          <a:prstGeom prst="line">
            <a:avLst/>
          </a:prstGeom>
          <a:noFill/>
          <a:ln w="19050">
            <a:solidFill>
              <a:srgbClr val="C8830A"/>
            </a:solidFill>
            <a:prstDash val="solid"/>
          </a:ln>
        </p:spPr>
      </p:sp>
      <p:sp>
        <p:nvSpPr>
          <p:cNvPr id="60" name="Text 39"/>
          <p:cNvSpPr/>
          <p:nvPr/>
        </p:nvSpPr>
        <p:spPr>
          <a:xfrm>
            <a:off x="4433785" y="2796701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830A"/>
                </a:solidFill>
              </a:rPr>
              <a:t>▶</a:t>
            </a:r>
            <a:endParaRPr lang="en-US" sz="900" dirty="0"/>
          </a:p>
        </p:txBody>
      </p:sp>
      <p:sp>
        <p:nvSpPr>
          <p:cNvPr id="61" name="Shape 40"/>
          <p:cNvSpPr/>
          <p:nvPr/>
        </p:nvSpPr>
        <p:spPr>
          <a:xfrm>
            <a:off x="4607521" y="2572673"/>
            <a:ext cx="1097280" cy="685800"/>
          </a:xfrm>
          <a:prstGeom prst="rect">
            <a:avLst/>
          </a:prstGeom>
          <a:solidFill>
            <a:srgbClr val="C8830A"/>
          </a:solidFill>
          <a:ln w="12700">
            <a:solidFill>
              <a:srgbClr val="C8830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Text 41"/>
          <p:cNvSpPr/>
          <p:nvPr/>
        </p:nvSpPr>
        <p:spPr>
          <a:xfrm>
            <a:off x="4607521" y="257267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100" dirty="0"/>
          </a:p>
        </p:txBody>
      </p:sp>
      <p:sp>
        <p:nvSpPr>
          <p:cNvPr id="63" name="Shape 42"/>
          <p:cNvSpPr/>
          <p:nvPr/>
        </p:nvSpPr>
        <p:spPr>
          <a:xfrm>
            <a:off x="5732233" y="2915573"/>
            <a:ext cx="201168" cy="0"/>
          </a:xfrm>
          <a:prstGeom prst="line">
            <a:avLst/>
          </a:prstGeom>
          <a:noFill/>
          <a:ln w="19050">
            <a:solidFill>
              <a:srgbClr val="C8830A"/>
            </a:solidFill>
            <a:prstDash val="solid"/>
          </a:ln>
        </p:spPr>
      </p:sp>
      <p:sp>
        <p:nvSpPr>
          <p:cNvPr id="64" name="Text 43"/>
          <p:cNvSpPr/>
          <p:nvPr/>
        </p:nvSpPr>
        <p:spPr>
          <a:xfrm>
            <a:off x="5787097" y="2796701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830A"/>
                </a:solidFill>
              </a:rPr>
              <a:t>▶</a:t>
            </a:r>
            <a:endParaRPr lang="en-US" sz="900" dirty="0"/>
          </a:p>
        </p:txBody>
      </p:sp>
      <p:sp>
        <p:nvSpPr>
          <p:cNvPr id="65" name="Shape 44"/>
          <p:cNvSpPr/>
          <p:nvPr/>
        </p:nvSpPr>
        <p:spPr>
          <a:xfrm>
            <a:off x="5960833" y="2572673"/>
            <a:ext cx="1097280" cy="685800"/>
          </a:xfrm>
          <a:prstGeom prst="rect">
            <a:avLst/>
          </a:prstGeom>
          <a:solidFill>
            <a:srgbClr val="C8830A"/>
          </a:solidFill>
          <a:ln w="12700">
            <a:solidFill>
              <a:srgbClr val="C8830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Text 45"/>
          <p:cNvSpPr/>
          <p:nvPr/>
        </p:nvSpPr>
        <p:spPr>
          <a:xfrm>
            <a:off x="5960833" y="257267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Decompress</a:t>
            </a:r>
            <a:endParaRPr lang="en-US" sz="1100" dirty="0"/>
          </a:p>
        </p:txBody>
      </p:sp>
      <p:sp>
        <p:nvSpPr>
          <p:cNvPr id="67" name="Shape 46"/>
          <p:cNvSpPr/>
          <p:nvPr/>
        </p:nvSpPr>
        <p:spPr>
          <a:xfrm>
            <a:off x="7085545" y="2915573"/>
            <a:ext cx="201168" cy="0"/>
          </a:xfrm>
          <a:prstGeom prst="line">
            <a:avLst/>
          </a:prstGeom>
          <a:noFill/>
          <a:ln w="19050">
            <a:solidFill>
              <a:srgbClr val="C8830A"/>
            </a:solidFill>
            <a:prstDash val="solid"/>
          </a:ln>
        </p:spPr>
      </p:sp>
      <p:sp>
        <p:nvSpPr>
          <p:cNvPr id="68" name="Text 47"/>
          <p:cNvSpPr/>
          <p:nvPr/>
        </p:nvSpPr>
        <p:spPr>
          <a:xfrm>
            <a:off x="7140409" y="2796701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830A"/>
                </a:solidFill>
              </a:rPr>
              <a:t>▶</a:t>
            </a:r>
            <a:endParaRPr lang="en-US" sz="900" dirty="0"/>
          </a:p>
        </p:txBody>
      </p:sp>
      <p:sp>
        <p:nvSpPr>
          <p:cNvPr id="69" name="Shape 48"/>
          <p:cNvSpPr/>
          <p:nvPr/>
        </p:nvSpPr>
        <p:spPr>
          <a:xfrm>
            <a:off x="7314145" y="2572673"/>
            <a:ext cx="1097280" cy="685800"/>
          </a:xfrm>
          <a:prstGeom prst="rect">
            <a:avLst/>
          </a:prstGeom>
          <a:solidFill>
            <a:srgbClr val="1A6B63"/>
          </a:solidFill>
          <a:ln w="12700">
            <a:solidFill>
              <a:srgbClr val="1A6B6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Text 49"/>
          <p:cNvSpPr/>
          <p:nvPr/>
        </p:nvSpPr>
        <p:spPr>
          <a:xfrm>
            <a:off x="7314145" y="257267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71" name="Shape 51"/>
          <p:cNvSpPr/>
          <p:nvPr/>
        </p:nvSpPr>
        <p:spPr>
          <a:xfrm>
            <a:off x="562004" y="3940536"/>
            <a:ext cx="1097280" cy="685800"/>
          </a:xfrm>
          <a:prstGeom prst="rect">
            <a:avLst/>
          </a:prstGeom>
          <a:solidFill>
            <a:srgbClr val="1A6B63"/>
          </a:solidFill>
          <a:ln w="12700">
            <a:solidFill>
              <a:srgbClr val="1A6B6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2" name="Text 52"/>
          <p:cNvSpPr/>
          <p:nvPr/>
        </p:nvSpPr>
        <p:spPr>
          <a:xfrm>
            <a:off x="562004" y="394053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BMP</a:t>
            </a:r>
            <a:endParaRPr lang="en-US" sz="1100" dirty="0"/>
          </a:p>
        </p:txBody>
      </p:sp>
      <p:sp>
        <p:nvSpPr>
          <p:cNvPr id="73" name="Shape 53"/>
          <p:cNvSpPr/>
          <p:nvPr/>
        </p:nvSpPr>
        <p:spPr>
          <a:xfrm>
            <a:off x="1686716" y="4283436"/>
            <a:ext cx="201168" cy="0"/>
          </a:xfrm>
          <a:prstGeom prst="line">
            <a:avLst/>
          </a:prstGeom>
          <a:noFill/>
          <a:ln w="19050">
            <a:solidFill>
              <a:srgbClr val="1A4A8A"/>
            </a:solidFill>
            <a:prstDash val="solid"/>
          </a:ln>
        </p:spPr>
      </p:sp>
      <p:sp>
        <p:nvSpPr>
          <p:cNvPr id="74" name="Text 54"/>
          <p:cNvSpPr/>
          <p:nvPr/>
        </p:nvSpPr>
        <p:spPr>
          <a:xfrm>
            <a:off x="1741580" y="416456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4A8A"/>
                </a:solidFill>
              </a:rPr>
              <a:t>▶</a:t>
            </a:r>
            <a:endParaRPr lang="en-US" sz="900" dirty="0"/>
          </a:p>
        </p:txBody>
      </p:sp>
      <p:sp>
        <p:nvSpPr>
          <p:cNvPr id="75" name="Shape 55"/>
          <p:cNvSpPr/>
          <p:nvPr/>
        </p:nvSpPr>
        <p:spPr>
          <a:xfrm>
            <a:off x="1915316" y="3940536"/>
            <a:ext cx="1097280" cy="6858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6" name="Text 56"/>
          <p:cNvSpPr/>
          <p:nvPr/>
        </p:nvSpPr>
        <p:spPr>
          <a:xfrm>
            <a:off x="1915316" y="394053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100" dirty="0"/>
          </a:p>
        </p:txBody>
      </p:sp>
      <p:sp>
        <p:nvSpPr>
          <p:cNvPr id="77" name="Shape 57"/>
          <p:cNvSpPr/>
          <p:nvPr/>
        </p:nvSpPr>
        <p:spPr>
          <a:xfrm>
            <a:off x="3040028" y="4283436"/>
            <a:ext cx="201168" cy="0"/>
          </a:xfrm>
          <a:prstGeom prst="line">
            <a:avLst/>
          </a:prstGeom>
          <a:noFill/>
          <a:ln w="19050">
            <a:solidFill>
              <a:srgbClr val="1A4A8A"/>
            </a:solidFill>
            <a:prstDash val="solid"/>
          </a:ln>
        </p:spPr>
      </p:sp>
      <p:sp>
        <p:nvSpPr>
          <p:cNvPr id="78" name="Text 58"/>
          <p:cNvSpPr/>
          <p:nvPr/>
        </p:nvSpPr>
        <p:spPr>
          <a:xfrm>
            <a:off x="3094892" y="416456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4A8A"/>
                </a:solidFill>
              </a:rPr>
              <a:t>▶</a:t>
            </a:r>
            <a:endParaRPr lang="en-US" sz="900" dirty="0"/>
          </a:p>
        </p:txBody>
      </p:sp>
      <p:sp>
        <p:nvSpPr>
          <p:cNvPr id="79" name="Shape 59"/>
          <p:cNvSpPr/>
          <p:nvPr/>
        </p:nvSpPr>
        <p:spPr>
          <a:xfrm>
            <a:off x="3268628" y="3940536"/>
            <a:ext cx="1097280" cy="6858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0" name="Text 60"/>
          <p:cNvSpPr/>
          <p:nvPr/>
        </p:nvSpPr>
        <p:spPr>
          <a:xfrm>
            <a:off x="3268628" y="394053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</a:t>
            </a:r>
            <a:endParaRPr lang="en-US" sz="1100" dirty="0"/>
          </a:p>
        </p:txBody>
      </p:sp>
      <p:sp>
        <p:nvSpPr>
          <p:cNvPr id="81" name="Shape 61"/>
          <p:cNvSpPr/>
          <p:nvPr/>
        </p:nvSpPr>
        <p:spPr>
          <a:xfrm>
            <a:off x="4393340" y="4283436"/>
            <a:ext cx="201168" cy="0"/>
          </a:xfrm>
          <a:prstGeom prst="line">
            <a:avLst/>
          </a:prstGeom>
          <a:noFill/>
          <a:ln w="19050">
            <a:solidFill>
              <a:srgbClr val="1A4A8A"/>
            </a:solidFill>
            <a:prstDash val="solid"/>
          </a:ln>
        </p:spPr>
      </p:sp>
      <p:sp>
        <p:nvSpPr>
          <p:cNvPr id="82" name="Text 62"/>
          <p:cNvSpPr/>
          <p:nvPr/>
        </p:nvSpPr>
        <p:spPr>
          <a:xfrm>
            <a:off x="4448204" y="416456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4A8A"/>
                </a:solidFill>
              </a:rPr>
              <a:t>▶</a:t>
            </a:r>
            <a:endParaRPr lang="en-US" sz="900" dirty="0"/>
          </a:p>
        </p:txBody>
      </p:sp>
      <p:sp>
        <p:nvSpPr>
          <p:cNvPr id="83" name="Shape 63"/>
          <p:cNvSpPr/>
          <p:nvPr/>
        </p:nvSpPr>
        <p:spPr>
          <a:xfrm>
            <a:off x="4621940" y="3940536"/>
            <a:ext cx="1097280" cy="6858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4" name="Text 64"/>
          <p:cNvSpPr/>
          <p:nvPr/>
        </p:nvSpPr>
        <p:spPr>
          <a:xfrm>
            <a:off x="4621940" y="394053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</a:t>
            </a:r>
            <a:endParaRPr lang="en-US" sz="1100" dirty="0"/>
          </a:p>
        </p:txBody>
      </p:sp>
      <p:sp>
        <p:nvSpPr>
          <p:cNvPr id="85" name="Shape 65"/>
          <p:cNvSpPr/>
          <p:nvPr/>
        </p:nvSpPr>
        <p:spPr>
          <a:xfrm>
            <a:off x="5746652" y="4283436"/>
            <a:ext cx="201168" cy="0"/>
          </a:xfrm>
          <a:prstGeom prst="line">
            <a:avLst/>
          </a:prstGeom>
          <a:noFill/>
          <a:ln w="19050">
            <a:solidFill>
              <a:srgbClr val="1A4A8A"/>
            </a:solidFill>
            <a:prstDash val="solid"/>
          </a:ln>
        </p:spPr>
      </p:sp>
      <p:sp>
        <p:nvSpPr>
          <p:cNvPr id="86" name="Text 66"/>
          <p:cNvSpPr/>
          <p:nvPr/>
        </p:nvSpPr>
        <p:spPr>
          <a:xfrm>
            <a:off x="5801516" y="416456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4A8A"/>
                </a:solidFill>
              </a:rPr>
              <a:t>▶</a:t>
            </a:r>
            <a:endParaRPr lang="en-US" sz="900" dirty="0"/>
          </a:p>
        </p:txBody>
      </p:sp>
      <p:sp>
        <p:nvSpPr>
          <p:cNvPr id="87" name="Shape 67"/>
          <p:cNvSpPr/>
          <p:nvPr/>
        </p:nvSpPr>
        <p:spPr>
          <a:xfrm>
            <a:off x="5975252" y="3940536"/>
            <a:ext cx="1097280" cy="685800"/>
          </a:xfrm>
          <a:prstGeom prst="rect">
            <a:avLst/>
          </a:prstGeom>
          <a:solidFill>
            <a:srgbClr val="1A6B63"/>
          </a:solidFill>
          <a:ln w="12700">
            <a:solidFill>
              <a:srgbClr val="1A6B6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8" name="Text 68"/>
          <p:cNvSpPr/>
          <p:nvPr/>
        </p:nvSpPr>
        <p:spPr>
          <a:xfrm>
            <a:off x="5975252" y="394053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100" dirty="0"/>
          </a:p>
        </p:txBody>
      </p:sp>
      <p:sp>
        <p:nvSpPr>
          <p:cNvPr id="15" name="Rectangle 14"/>
          <p:cNvSpPr/>
          <p:nvPr/>
        </p:nvSpPr>
        <p:spPr>
          <a:xfrm>
            <a:off x="544068" y="968289"/>
            <a:ext cx="107156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>
                <a:solidFill>
                  <a:srgbClr val="00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8" name="Rectangle 17"/>
          <p:cNvSpPr/>
          <p:nvPr/>
        </p:nvSpPr>
        <p:spPr>
          <a:xfrm>
            <a:off x="553212" y="2322625"/>
            <a:ext cx="93166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 smtClean="0">
                <a:solidFill>
                  <a:srgbClr val="00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</a:t>
            </a:r>
            <a:endParaRPr lang="en-US" sz="1100" dirty="0"/>
          </a:p>
        </p:txBody>
      </p:sp>
      <p:sp>
        <p:nvSpPr>
          <p:cNvPr id="19" name="Rectangle 18"/>
          <p:cNvSpPr/>
          <p:nvPr/>
        </p:nvSpPr>
        <p:spPr>
          <a:xfrm>
            <a:off x="564231" y="3635423"/>
            <a:ext cx="110158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 smtClean="0">
                <a:solidFill>
                  <a:srgbClr val="00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781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7315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4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996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1929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212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862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1455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4078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087052"/>
            <a:ext cx="3924588" cy="296374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630" y="1051365"/>
            <a:ext cx="3423138" cy="29994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7315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4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996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1929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212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862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1455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4078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322070"/>
            <a:ext cx="2728722" cy="27287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4050792"/>
            <a:ext cx="2728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</a:t>
            </a:r>
            <a:r>
              <a:rPr lang="en-US" sz="1400" dirty="0" smtClean="0"/>
              <a:t>ena.bmp</a:t>
            </a:r>
            <a:endParaRPr lang="en-US" sz="14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322070"/>
            <a:ext cx="2728956" cy="27289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29200" y="3997569"/>
            <a:ext cx="2728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</a:t>
            </a:r>
            <a:r>
              <a:rPr lang="en-US" sz="1400" dirty="0" smtClean="0"/>
              <a:t>tego.bmp</a:t>
            </a:r>
            <a:endParaRPr 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931985" y="969264"/>
            <a:ext cx="1641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Before</a:t>
            </a:r>
            <a:endParaRPr lang="en-US" sz="1400" dirty="0"/>
          </a:p>
        </p:txBody>
      </p:sp>
      <p:sp>
        <p:nvSpPr>
          <p:cNvPr id="22" name="Rectangle 21"/>
          <p:cNvSpPr/>
          <p:nvPr/>
        </p:nvSpPr>
        <p:spPr>
          <a:xfrm>
            <a:off x="6116358" y="967959"/>
            <a:ext cx="5546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/>
              <a:t>After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5396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7315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4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996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1929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212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862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1455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4078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854134"/>
            <a:ext cx="4237845" cy="20875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3076805"/>
            <a:ext cx="4237845" cy="1546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6135" y="854378"/>
            <a:ext cx="1975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Sender side: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426135" y="3076805"/>
            <a:ext cx="1975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Receiver side: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1976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470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7315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4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05840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00584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1. Supports only 24-bit BMP images, excluding common formats like JPEG and PNG.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01368"/>
            <a:ext cx="54864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80136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400" dirty="0"/>
              <a:t>Hamming(7,4) can only correct single-bit errors; multiple errors in one block cause incorrect decoding.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2596896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" y="2641913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41913"/>
            <a:ext cx="54864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640155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/>
              <a:t>Hamming overhead increases embedded bit count by 75%, reducing the effective capacity of the cover image.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" y="3421263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37441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787" y="3421263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4. </a:t>
            </a:r>
            <a:r>
              <a:rPr lang="en-US" sz="1400" dirty="0"/>
              <a:t>Message size is strictly limited by image dimensions, restricting the amount of data that can be hidden.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52328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822960"/>
            <a:ext cx="3474720" cy="3474720"/>
          </a:xfrm>
          <a:prstGeom prst="ellipse">
            <a:avLst/>
          </a:prstGeom>
          <a:solidFill>
            <a:srgbClr val="0A5C60">
              <a:alpha val="55000"/>
            </a:srgbClr>
          </a:solidFill>
          <a:ln w="12700">
            <a:solidFill>
              <a:srgbClr val="0A5C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3291840"/>
            <a:ext cx="2926080" cy="2926080"/>
          </a:xfrm>
          <a:prstGeom prst="ellipse">
            <a:avLst/>
          </a:prstGeom>
          <a:solidFill>
            <a:srgbClr val="0A5C60">
              <a:alpha val="55000"/>
            </a:srgbClr>
          </a:solidFill>
          <a:ln w="12700">
            <a:solidFill>
              <a:srgbClr val="0A5C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383280" y="2633472"/>
            <a:ext cx="237744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 smtClean="0">
                <a:solidFill>
                  <a:srgbClr val="A8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bsse1632@iit.du.ac.bd</a:t>
            </a:r>
            <a:endParaRPr lang="en-US" sz="1200" dirty="0"/>
          </a:p>
          <a:p>
            <a:pPr marL="0" indent="0" algn="ctr"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i="1" dirty="0" err="1" smtClean="0">
                <a:solidFill>
                  <a:srgbClr val="A8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100" i="1" dirty="0">
                <a:solidFill>
                  <a:srgbClr val="A8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https://github.com/asshifasultana/SPL-1.git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00" dirty="0" smtClean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404</Words>
  <Application>Microsoft Office PowerPoint</Application>
  <PresentationFormat>On-screen Show (16:9)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 Calendar System</dc:title>
  <dc:subject>PptxGenJS Presentation</dc:subject>
  <dc:creator>PptxGenJS</dc:creator>
  <cp:lastModifiedBy>Asshifa Sultana</cp:lastModifiedBy>
  <cp:revision>21</cp:revision>
  <dcterms:created xsi:type="dcterms:W3CDTF">2026-04-20T18:41:43Z</dcterms:created>
  <dcterms:modified xsi:type="dcterms:W3CDTF">2026-04-23T06:18:12Z</dcterms:modified>
</cp:coreProperties>
</file>