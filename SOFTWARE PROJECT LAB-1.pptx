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3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6A053-88E7-4019-8E3A-ADD8A32F1E7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59E0C-F288-4EE0-9664-36D57BC7B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66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59E0C-F288-4EE0-9664-36D57BC7BC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8D5A786-8D29-4D37-AB31-074AC7A8067C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283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E492-E72C-4A31-B5FA-27EC49A30B0D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4E89-162C-4485-BF01-CA2194DA5D23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152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40EA-064B-477B-BFDE-DFE7CEFDD4C1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5DD1-6B99-4292-9AF8-DBE563E98C6A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3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FA15-FD15-47FD-B367-B16E0558B690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08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5E8E-4FFC-43D9-8289-8BE111769CF6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215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A218-7413-470C-865C-8C460C997E00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9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C33C8-74CC-47F0-88B7-2F47A2EC6AAD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53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FEB0-562B-4023-A2E8-0A54B7EED67B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66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F956-4115-47A9-969C-98BF23F90F0D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45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15E0D9-F10C-419A-B33D-43F8E6765070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235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shifasultana/SPL-1.git" TargetMode="External"/><Relationship Id="rId2" Type="http://schemas.openxmlformats.org/officeDocument/2006/relationships/hyperlink" Target="mailto:bsse1632@iit.du.ac.b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475" y="1536349"/>
            <a:ext cx="7772400" cy="1463040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</a:rPr>
              <a:t>SOFTWARE </a:t>
            </a:r>
            <a:r>
              <a:rPr lang="en-US" sz="6000" b="1" dirty="0" smtClean="0">
                <a:solidFill>
                  <a:schemeClr val="bg1"/>
                </a:solidFill>
              </a:rPr>
              <a:t>PROJECT LAB-1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4875" y="4934258"/>
            <a:ext cx="3443376" cy="146304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Name: Asshifa Sultana</a:t>
            </a:r>
          </a:p>
          <a:p>
            <a:r>
              <a:rPr lang="en-US" sz="2800" dirty="0" smtClean="0"/>
              <a:t>Roll no. : BSSE-1632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43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631" y="1670027"/>
            <a:ext cx="6617576" cy="1463040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 smtClean="0">
                <a:solidFill>
                  <a:schemeClr val="bg1"/>
                </a:solidFill>
              </a:rPr>
              <a:t>Project title-</a:t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6000" b="1" dirty="0" err="1" smtClean="0">
                <a:solidFill>
                  <a:schemeClr val="bg1"/>
                </a:solidFill>
              </a:rPr>
              <a:t>Stegofusion</a:t>
            </a:r>
            <a:r>
              <a:rPr lang="en-US" sz="6000" b="1" dirty="0" smtClean="0">
                <a:solidFill>
                  <a:schemeClr val="bg1"/>
                </a:solidFill>
              </a:rPr>
              <a:t>-</a:t>
            </a:r>
            <a:br>
              <a:rPr lang="en-US" sz="6000" b="1" dirty="0" smtClean="0">
                <a:solidFill>
                  <a:schemeClr val="bg1"/>
                </a:solidFill>
              </a:rPr>
            </a:br>
            <a:r>
              <a:rPr lang="en-US" sz="3100" b="1" dirty="0" smtClean="0">
                <a:solidFill>
                  <a:schemeClr val="bg1"/>
                </a:solidFill>
              </a:rPr>
              <a:t>a hybrid algorithm based</a:t>
            </a:r>
            <a:br>
              <a:rPr lang="en-US" sz="3100" b="1" dirty="0" smtClean="0">
                <a:solidFill>
                  <a:schemeClr val="bg1"/>
                </a:solidFill>
              </a:rPr>
            </a:br>
            <a:r>
              <a:rPr lang="en-US" sz="3100" b="1" dirty="0" smtClean="0">
                <a:solidFill>
                  <a:schemeClr val="bg1"/>
                </a:solidFill>
              </a:rPr>
              <a:t>image steganography system</a:t>
            </a:r>
            <a:endParaRPr lang="en-US" sz="31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15300" y="5096183"/>
            <a:ext cx="5846551" cy="1463040"/>
          </a:xfrm>
        </p:spPr>
        <p:txBody>
          <a:bodyPr>
            <a:normAutofit fontScale="70000" lnSpcReduction="20000"/>
          </a:bodyPr>
          <a:lstStyle/>
          <a:p>
            <a:pPr lvl="1" algn="l"/>
            <a:r>
              <a:rPr lang="en-US" sz="3600" dirty="0"/>
              <a:t>Supervised by,</a:t>
            </a:r>
          </a:p>
          <a:p>
            <a:pPr lvl="1" algn="l"/>
            <a:r>
              <a:rPr lang="en-US" sz="3600" dirty="0"/>
              <a:t>Dr. </a:t>
            </a:r>
            <a:r>
              <a:rPr lang="en-US" sz="3600" dirty="0" err="1"/>
              <a:t>Emon</a:t>
            </a:r>
            <a:r>
              <a:rPr lang="en-US" sz="3600" dirty="0"/>
              <a:t> Kumar </a:t>
            </a:r>
            <a:r>
              <a:rPr lang="en-US" sz="3600" dirty="0" err="1"/>
              <a:t>Dey</a:t>
            </a:r>
            <a:endParaRPr lang="en-US" sz="3600" dirty="0"/>
          </a:p>
          <a:p>
            <a:pPr lvl="1" algn="l"/>
            <a:r>
              <a:rPr lang="en-US" sz="3600" dirty="0"/>
              <a:t>Associate Professor</a:t>
            </a:r>
          </a:p>
          <a:p>
            <a:pPr lvl="1" algn="l"/>
            <a:r>
              <a:rPr lang="en-US" sz="3600" dirty="0"/>
              <a:t>IIT, University of Dhaka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5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6000" b="1" dirty="0" smtClean="0">
                <a:solidFill>
                  <a:schemeClr val="bg1"/>
                </a:solidFill>
                <a:latin typeface="Baskerville Old Face" panose="020206020805050203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Image steganography</a:t>
            </a:r>
            <a:endParaRPr lang="en-US" sz="6000" b="1" dirty="0">
              <a:solidFill>
                <a:schemeClr val="bg1"/>
              </a:solidFill>
              <a:latin typeface="Baskerville Old Face" panose="02020602080505020303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4500" y="2695575"/>
            <a:ext cx="90297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</a:rPr>
              <a:t>Image Steganography </a:t>
            </a:r>
            <a:r>
              <a:rPr lang="en-US" sz="3200" dirty="0">
                <a:solidFill>
                  <a:schemeClr val="bg1"/>
                </a:solidFill>
              </a:rPr>
              <a:t>refers to the process of hiding data within an image file. The image selected for this purpose is called the </a:t>
            </a:r>
            <a:r>
              <a:rPr lang="en-US" sz="3200" b="1" dirty="0">
                <a:solidFill>
                  <a:schemeClr val="bg1"/>
                </a:solidFill>
              </a:rPr>
              <a:t>cover image</a:t>
            </a:r>
            <a:r>
              <a:rPr lang="en-US" sz="3200" dirty="0">
                <a:solidFill>
                  <a:schemeClr val="bg1"/>
                </a:solidFill>
              </a:rPr>
              <a:t> and the image obtained after steganography is called the </a:t>
            </a:r>
            <a:r>
              <a:rPr lang="en-US" sz="3200" b="1" dirty="0" err="1">
                <a:solidFill>
                  <a:schemeClr val="bg1"/>
                </a:solidFill>
              </a:rPr>
              <a:t>stego</a:t>
            </a:r>
            <a:r>
              <a:rPr lang="en-US" sz="3200" b="1" dirty="0">
                <a:solidFill>
                  <a:schemeClr val="bg1"/>
                </a:solidFill>
              </a:rPr>
              <a:t> image</a:t>
            </a:r>
            <a:r>
              <a:rPr lang="en-US" sz="3200" dirty="0">
                <a:solidFill>
                  <a:schemeClr val="bg1"/>
                </a:solidFill>
              </a:rPr>
              <a:t>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94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>
                <a:solidFill>
                  <a:schemeClr val="bg1"/>
                </a:solidFill>
                <a:latin typeface="Rockwell" panose="02060603020205020403" pitchFamily="18" charset="0"/>
              </a:rPr>
              <a:t>Project Overview-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1700" y="2532507"/>
            <a:ext cx="85725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Securely hides text data inside BMP images using multiple algorithms.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Integrates compression, error detection and </a:t>
            </a:r>
            <a:r>
              <a:rPr lang="en-US" sz="3200" dirty="0" err="1" smtClean="0">
                <a:solidFill>
                  <a:schemeClr val="bg1"/>
                </a:solidFill>
              </a:rPr>
              <a:t>lsb</a:t>
            </a:r>
            <a:r>
              <a:rPr lang="en-US" sz="3200" dirty="0" smtClean="0">
                <a:solidFill>
                  <a:schemeClr val="bg1"/>
                </a:solidFill>
              </a:rPr>
              <a:t> embedding.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Uses randomized pixel selection to avoid detectable patterns.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Preserves image quality with minimum visual distortion.</a:t>
            </a:r>
            <a:endParaRPr lang="en-US" sz="3200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30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Algorithms-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lowchart: Process 2"/>
          <p:cNvSpPr/>
          <p:nvPr/>
        </p:nvSpPr>
        <p:spPr>
          <a:xfrm>
            <a:off x="-19053" y="2233058"/>
            <a:ext cx="3000375" cy="4624942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lowchart: Process 3"/>
          <p:cNvSpPr/>
          <p:nvPr/>
        </p:nvSpPr>
        <p:spPr>
          <a:xfrm>
            <a:off x="2990849" y="2233058"/>
            <a:ext cx="2981325" cy="4624942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/>
          <p:cNvSpPr/>
          <p:nvPr/>
        </p:nvSpPr>
        <p:spPr>
          <a:xfrm>
            <a:off x="5991224" y="2233058"/>
            <a:ext cx="3086100" cy="462494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rocess 5"/>
          <p:cNvSpPr/>
          <p:nvPr/>
        </p:nvSpPr>
        <p:spPr>
          <a:xfrm>
            <a:off x="9096374" y="2233058"/>
            <a:ext cx="3095626" cy="4624942"/>
          </a:xfrm>
          <a:prstGeom prst="flowChartProcess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1923" y="2524125"/>
            <a:ext cx="2638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Huffman 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298" y="2524125"/>
            <a:ext cx="2638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Hamming </a:t>
            </a:r>
            <a:r>
              <a:rPr lang="en-US" sz="3200" b="1" dirty="0">
                <a:solidFill>
                  <a:schemeClr val="bg1"/>
                </a:solidFill>
              </a:rPr>
              <a:t>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0285" y="2524125"/>
            <a:ext cx="2638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Chaos Mapping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94002" y="2524125"/>
            <a:ext cx="2638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LSB Embedding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339260" y="3939114"/>
            <a:ext cx="2347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Hides data bits in an image’s pixel array by altering the least significant bits of pixel values.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2298" y="3939114"/>
            <a:ext cx="23479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Detects and corrects bit errors using parity bits and bitwise operations.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5542" y="3939114"/>
            <a:ext cx="23479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Randomizes data embedding positions through iterative non-linear equations for unpredictability.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376" y="3939114"/>
            <a:ext cx="23479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Compresses text data using binary tree based on character frequency to reduce </a:t>
            </a:r>
            <a:r>
              <a:rPr lang="en-US" sz="2400" dirty="0" smtClean="0">
                <a:solidFill>
                  <a:schemeClr val="bg1"/>
                </a:solidFill>
              </a:rPr>
              <a:t>size.</a:t>
            </a:r>
            <a:endParaRPr lang="en-US" sz="2400" dirty="0"/>
          </a:p>
          <a:p>
            <a:endParaRPr lang="en-US" dirty="0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55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24" grpId="0"/>
      <p:bldP spid="25" grpId="0"/>
      <p:bldP spid="26" grpId="0"/>
      <p:bldP spid="27" grpId="0"/>
      <p:bldP spid="30" grpId="0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Tasks implemented so far-</a:t>
            </a:r>
            <a:endParaRPr lang="en-US" sz="44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38375" y="2618232"/>
            <a:ext cx="85058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Reading and processing 24-bit BMP </a:t>
            </a:r>
            <a:r>
              <a:rPr lang="en-US" sz="3200" dirty="0" smtClean="0">
                <a:solidFill>
                  <a:schemeClr val="bg1"/>
                </a:solidFill>
              </a:rPr>
              <a:t>images.</a:t>
            </a:r>
            <a:endParaRPr lang="en-US" sz="3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Huffman compression and </a:t>
            </a:r>
            <a:r>
              <a:rPr lang="en-US" sz="3200" dirty="0" smtClean="0">
                <a:solidFill>
                  <a:schemeClr val="bg1"/>
                </a:solidFill>
              </a:rPr>
              <a:t>decompression.</a:t>
            </a:r>
            <a:endParaRPr lang="en-US" sz="3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Min heap based Huffman tree </a:t>
            </a:r>
            <a:r>
              <a:rPr lang="en-US" sz="3200" dirty="0" smtClean="0">
                <a:solidFill>
                  <a:schemeClr val="bg1"/>
                </a:solidFill>
              </a:rPr>
              <a:t>construction.</a:t>
            </a:r>
            <a:endParaRPr lang="en-US" sz="3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 smtClean="0">
                <a:solidFill>
                  <a:schemeClr val="bg1"/>
                </a:solidFill>
              </a:rPr>
              <a:t>Bitstream</a:t>
            </a:r>
            <a:r>
              <a:rPr lang="en-US" sz="3200" dirty="0" smtClean="0">
                <a:solidFill>
                  <a:schemeClr val="bg1"/>
                </a:solidFill>
              </a:rPr>
              <a:t> encoding and </a:t>
            </a:r>
            <a:r>
              <a:rPr lang="en-US" sz="3200" dirty="0" smtClean="0">
                <a:solidFill>
                  <a:schemeClr val="bg1"/>
                </a:solidFill>
              </a:rPr>
              <a:t>decoding.</a:t>
            </a:r>
            <a:endParaRPr lang="en-US" sz="3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Basic logistic map chaotic </a:t>
            </a:r>
            <a:r>
              <a:rPr lang="en-US" sz="3200" dirty="0" smtClean="0">
                <a:solidFill>
                  <a:schemeClr val="bg1"/>
                </a:solidFill>
              </a:rPr>
              <a:t>sequence.</a:t>
            </a:r>
            <a:endParaRPr lang="en-US" sz="3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LSB based data embedding and </a:t>
            </a:r>
            <a:r>
              <a:rPr lang="en-US" sz="3200" dirty="0" smtClean="0">
                <a:solidFill>
                  <a:schemeClr val="bg1"/>
                </a:solidFill>
              </a:rPr>
              <a:t>extraction.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61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7279" y="566663"/>
            <a:ext cx="69196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/>
              <a:t>PROGRAM OUTPUT</a:t>
            </a:r>
            <a:endParaRPr lang="en-US" sz="6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012249" y="3680847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 embedding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12249" y="6083085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 extracting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586" y="1582325"/>
            <a:ext cx="4657241" cy="19357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586" y="4212912"/>
            <a:ext cx="4657241" cy="17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9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3677" y="460849"/>
            <a:ext cx="6649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/>
              <a:t>PROGRAM OUTPUT</a:t>
            </a:r>
            <a:endParaRPr lang="en-US" sz="60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61" y="1380103"/>
            <a:ext cx="4397121" cy="50906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557" y="1380103"/>
            <a:ext cx="4564776" cy="50372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15470" y="1650569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Before embedding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660120" y="1650569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After</a:t>
            </a:r>
            <a:r>
              <a:rPr lang="en-US" dirty="0" smtClean="0"/>
              <a:t> embedding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3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latin typeface="Bookman Old Style" panose="02050604050505020204" pitchFamily="18" charset="0"/>
              </a:rPr>
              <a:t>Tasks to be implemented</a:t>
            </a:r>
            <a:endParaRPr lang="en-US" sz="4400" b="1" dirty="0">
              <a:latin typeface="Bookman Old Style" panose="0205060405050502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0775" y="2486025"/>
            <a:ext cx="83534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Add Hamming Code for error detection and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Support both 24 and 32 bit BMP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Multiple chaotic maps for more secure and unpredictable embedding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3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3350" y="1647825"/>
            <a:ext cx="5934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</a:rPr>
              <a:t>THANK YOU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9624" y="4419600"/>
            <a:ext cx="79533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>
                <a:solidFill>
                  <a:schemeClr val="bg1"/>
                </a:solidFill>
              </a:rPr>
              <a:t>Email: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bg1"/>
                </a:solidFill>
                <a:hlinkClick r:id="rId2"/>
              </a:rPr>
              <a:t>bsse1632@iit.du.ac.bd</a:t>
            </a:r>
            <a:endParaRPr lang="en-US" sz="2400" b="1" dirty="0">
              <a:solidFill>
                <a:schemeClr val="bg1"/>
              </a:solidFill>
            </a:endParaRPr>
          </a:p>
          <a:p>
            <a:pPr lvl="1"/>
            <a:r>
              <a:rPr lang="en-US" sz="2400" b="1" dirty="0" err="1">
                <a:solidFill>
                  <a:schemeClr val="bg1"/>
                </a:solidFill>
              </a:rPr>
              <a:t>GitHub</a:t>
            </a:r>
            <a:r>
              <a:rPr lang="en-US" sz="2400" b="1" dirty="0">
                <a:solidFill>
                  <a:schemeClr val="bg1"/>
                </a:solidFill>
              </a:rPr>
              <a:t> Link</a:t>
            </a:r>
            <a:r>
              <a:rPr lang="en-US" sz="2400" b="1" dirty="0">
                <a:hlinkClick r:id="rId3" tooltip="https://github.com/asshifasultana/SPL-1.git"/>
              </a:rPr>
              <a:t>: https://github.com/asshifasultana/SPL-1.git</a:t>
            </a:r>
            <a:endParaRPr lang="en-US" sz="24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56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350</TotalTime>
  <Words>261</Words>
  <Application>Microsoft Office PowerPoint</Application>
  <PresentationFormat>Widescreen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 Unicode MS</vt:lpstr>
      <vt:lpstr>Arial</vt:lpstr>
      <vt:lpstr>Baskerville Old Face</vt:lpstr>
      <vt:lpstr>Bookman Old Style</vt:lpstr>
      <vt:lpstr>Calibri</vt:lpstr>
      <vt:lpstr>Rockwell</vt:lpstr>
      <vt:lpstr>Tw Cen MT</vt:lpstr>
      <vt:lpstr>Tw Cen MT Condensed</vt:lpstr>
      <vt:lpstr>Wingdings 3</vt:lpstr>
      <vt:lpstr>Integral</vt:lpstr>
      <vt:lpstr>SOFTWARE PROJECT LAB-1</vt:lpstr>
      <vt:lpstr>Project title- Stegofusion- a hybrid algorithm based image steganography system</vt:lpstr>
      <vt:lpstr>Image steganography</vt:lpstr>
      <vt:lpstr>Project Overview-</vt:lpstr>
      <vt:lpstr>Algorithms- </vt:lpstr>
      <vt:lpstr>Tasks implemented so far-</vt:lpstr>
      <vt:lpstr>PowerPoint Presentation</vt:lpstr>
      <vt:lpstr>PowerPoint Presentation</vt:lpstr>
      <vt:lpstr>Tasks to be implemented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LAB-1</dc:title>
  <dc:creator>Asshifa Sultana</dc:creator>
  <cp:lastModifiedBy>Asshifa Sultana</cp:lastModifiedBy>
  <cp:revision>31</cp:revision>
  <dcterms:created xsi:type="dcterms:W3CDTF">2026-01-14T10:10:43Z</dcterms:created>
  <dcterms:modified xsi:type="dcterms:W3CDTF">2026-01-14T19:37:10Z</dcterms:modified>
</cp:coreProperties>
</file>